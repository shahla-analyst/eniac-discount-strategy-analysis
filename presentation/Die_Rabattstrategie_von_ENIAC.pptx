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ijd79DSO0jHTvf0m8Yu5nvVQwm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4fce5aad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4fce5aad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rgbClr val="1155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1155C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4fce5aadc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4fce5aadc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Backgroun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2169225" y="3343275"/>
            <a:ext cx="18114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FFF2CC"/>
                </a:solidFill>
                <a:latin typeface="Comic Sans MS"/>
                <a:ea typeface="Comic Sans MS"/>
                <a:cs typeface="Comic Sans MS"/>
                <a:sym typeface="Comic Sans MS"/>
              </a:rPr>
              <a:t>Rabatt-Radar</a:t>
            </a:r>
            <a:endParaRPr sz="1800">
              <a:solidFill>
                <a:srgbClr val="FFF2C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title="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" name="Google Shape;6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7125" y="1621938"/>
            <a:ext cx="7509726" cy="29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411025" y="844300"/>
            <a:ext cx="8631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1C4587"/>
                </a:solidFill>
                <a:latin typeface="Oswald"/>
                <a:ea typeface="Oswald"/>
                <a:cs typeface="Oswald"/>
                <a:sym typeface="Oswald"/>
              </a:rPr>
              <a:t>Sind Rabatte für ENIAC langfristig wirtschaftlich sinnvoll?</a:t>
            </a:r>
            <a:r>
              <a:rPr b="1" i="1" lang="de" sz="1400" u="none" cap="none" strike="noStrike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(Unsere zentrale Forschungsfrage)</a:t>
            </a:r>
            <a:endParaRPr b="1" i="1" sz="1400" u="none" cap="none" strike="noStrike">
              <a:solidFill>
                <a:srgbClr val="38761D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1C4587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1266425" y="1821900"/>
            <a:ext cx="65988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de" sz="1900" u="none" cap="none" strike="noStrike">
                <a:solidFill>
                  <a:srgbClr val="6FA8DC"/>
                </a:solidFill>
                <a:latin typeface="Oswald"/>
                <a:ea typeface="Oswald"/>
                <a:cs typeface="Oswald"/>
                <a:sym typeface="Oswald"/>
              </a:rPr>
              <a:t>Ziele der Analyse</a:t>
            </a:r>
            <a:endParaRPr b="1" i="0" sz="1900" u="none" cap="none" strike="noStrike">
              <a:solidFill>
                <a:srgbClr val="6FA8D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Rabattstrategie analysieren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Einfluss von Rabatten auf den Umsatz untersuchen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Saisonale Unterschiede analysieren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Handlungsempfehlungen für zukünftige Rabattaktionen ableiten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" title="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 title="Bildschirmfoto 2026-07-12 um 14.26.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21225"/>
            <a:ext cx="3443624" cy="422227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3224300" y="1348925"/>
            <a:ext cx="56589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Ein großer Teil der Produkte wird mit Rabatt verkauft.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Niedrige Rabatte kommen deutlich häufiger vor als hohe Rabatte.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Rabatte sind ein fester Bestandteil der Verkaufsstrategie von ENIAC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756725" y="394800"/>
            <a:ext cx="59661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Rabattierte Produkte</a:t>
            </a:r>
            <a:r>
              <a:rPr b="1" i="0" lang="de" sz="18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i="0" lang="de" sz="1800" u="none" cap="none" strike="noStrike">
                <a:solidFill>
                  <a:srgbClr val="38761D"/>
                </a:solidFill>
                <a:latin typeface="Oswald"/>
                <a:ea typeface="Oswald"/>
                <a:cs typeface="Oswald"/>
                <a:sym typeface="Oswald"/>
              </a:rPr>
              <a:t>–</a:t>
            </a:r>
            <a:r>
              <a:rPr b="1" i="0" lang="de" sz="1800" u="none" cap="none" strike="noStrike">
                <a:solidFill>
                  <a:srgbClr val="9FC5E8"/>
                </a:solidFill>
                <a:latin typeface="Oswald"/>
                <a:ea typeface="Oswald"/>
                <a:cs typeface="Oswald"/>
                <a:sym typeface="Oswald"/>
              </a:rPr>
              <a:t> Analyse der Verteilung</a:t>
            </a:r>
            <a:endParaRPr b="1" i="0" sz="1800" u="none" cap="none" strike="noStrike">
              <a:solidFill>
                <a:srgbClr val="9FC5E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" title="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3875"/>
            <a:ext cx="9144000" cy="518737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 txBox="1"/>
          <p:nvPr/>
        </p:nvSpPr>
        <p:spPr>
          <a:xfrm>
            <a:off x="5438600" y="1268075"/>
            <a:ext cx="3443700" cy="29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Peak Season erzielt höhere Umsätze (288,10 € vs. 237,54 €).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Auch die durchschnittlichen Verkäufe sind deutlich höher (7463 vs. 2802).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Rabattaktionen sollten daher saisonabhängig geplant werden.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822525" y="339975"/>
            <a:ext cx="54726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Peak Season </a:t>
            </a:r>
            <a:r>
              <a:rPr b="1" i="0" lang="de" sz="1800" u="none" cap="none" strike="noStrike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vs.</a:t>
            </a:r>
            <a:r>
              <a:rPr b="1" i="0" lang="de" sz="18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i="0" lang="de" sz="18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Normal Season</a:t>
            </a:r>
            <a:endParaRPr b="1" i="0" sz="18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79" name="Google Shape;79;p4" title="Bildschirmfoto 2026-07-12 um 15.41.3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97875"/>
            <a:ext cx="2566274" cy="3185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 title="Bildschirmfoto 2026-07-12 um 15.38.4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6825" y="1033000"/>
            <a:ext cx="2445301" cy="31150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131600" y="4266150"/>
            <a:ext cx="85980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de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 der Saisonen:</a:t>
            </a:r>
            <a:br>
              <a:rPr b="1" i="0" lang="de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de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de" sz="1100" u="none" cap="none" strike="noStrike">
                <a:solidFill>
                  <a:srgbClr val="134F5C"/>
                </a:solidFill>
                <a:latin typeface="Arial"/>
                <a:ea typeface="Arial"/>
                <a:cs typeface="Arial"/>
                <a:sym typeface="Arial"/>
              </a:rPr>
              <a:t>Peak Season (Nov. 2017 – Jan. 2018)</a:t>
            </a:r>
            <a:r>
              <a:rPr b="0" i="0" lang="de" sz="1100" u="none" cap="none" strike="noStrike">
                <a:solidFill>
                  <a:srgbClr val="134F5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de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1" i="0" lang="de" sz="11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Normal Season (alle übrigen Monate)</a:t>
            </a:r>
            <a:endParaRPr b="1" i="0" sz="11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5" title="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/>
        </p:nvSpPr>
        <p:spPr>
          <a:xfrm>
            <a:off x="252250" y="4189375"/>
            <a:ext cx="704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Char char="●"/>
            </a:pPr>
            <a:r>
              <a:rPr b="0" i="0" lang="de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0–10 % erzielt den höchsten durchschnittlichen Umsatz (488,78 €).</a:t>
            </a:r>
            <a:endParaRPr b="0" i="0" sz="1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Char char="●"/>
            </a:pPr>
            <a:r>
              <a:rPr b="0" i="0" lang="de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90–100 % zeigt zwar einen hohen Umsatz, basiert aber nur auf 594 Verkäufen.</a:t>
            </a:r>
            <a:endParaRPr b="0" i="0" sz="1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ic Sans MS"/>
              <a:buChar char="●"/>
            </a:pPr>
            <a:r>
              <a:rPr b="0" i="0" lang="de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Kleine Rabatte sind daher wirtschaftlich sinnvoller als sehr hohe Rabatte.</a:t>
            </a:r>
            <a:endParaRPr b="0" i="0" sz="1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59300" y="226225"/>
            <a:ext cx="60378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Analyse der Rabattstufen </a:t>
            </a:r>
            <a:r>
              <a:rPr b="1" lang="de" sz="1800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in der </a:t>
            </a:r>
            <a:r>
              <a:rPr b="1" lang="de" sz="18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Normal Season</a:t>
            </a:r>
            <a:endParaRPr b="1" i="0" sz="1800" u="none" cap="none" strike="noStrike">
              <a:solidFill>
                <a:srgbClr val="FF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9" name="Google Shape;89;p5" title="Bildschirmfoto 2026-07-13 um 14.51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8700" y="986825"/>
            <a:ext cx="4235299" cy="320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" title="Bildschirmfoto 2026-07-13 um 14.57.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250" y="992950"/>
            <a:ext cx="4455175" cy="3115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6" title="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 txBox="1"/>
          <p:nvPr/>
        </p:nvSpPr>
        <p:spPr>
          <a:xfrm>
            <a:off x="636075" y="219350"/>
            <a:ext cx="5680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Umsatz nach Rabattstufe in der </a:t>
            </a:r>
            <a:r>
              <a:rPr b="1" i="0" lang="de" sz="1800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Peak Season</a:t>
            </a:r>
            <a:endParaRPr b="1" i="0" sz="1800" u="none" cap="none" strike="noStrike">
              <a:solidFill>
                <a:srgbClr val="FF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285150" y="4068875"/>
            <a:ext cx="72054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0–10 % Rabatt erzielt den höchsten durchschnittlichen Umsatz.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Höhere Rabatte führen überwiegend zu niedrigeren Umsätzen.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90–100 % wurde aufgrund der sehr geringen Verkaufszahl nicht berücksichtigt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8" name="Google Shape;98;p6" title="peak_r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5700" y="883350"/>
            <a:ext cx="4211800" cy="300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6" title="peak_lin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325" y="793900"/>
            <a:ext cx="4472549" cy="300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7" title="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 txBox="1"/>
          <p:nvPr/>
        </p:nvSpPr>
        <p:spPr>
          <a:xfrm>
            <a:off x="230325" y="164500"/>
            <a:ext cx="5845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de" sz="1800" u="none" cap="none" strike="noStrike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Top-Produkte und ihr Umsatz in der Peak Season</a:t>
            </a:r>
            <a:endParaRPr b="1" i="0" sz="1800" u="none" cap="none" strike="noStrike">
              <a:solidFill>
                <a:srgbClr val="1155C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153525" y="3871200"/>
            <a:ext cx="83019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Das umsatzstärkste Produkt erzielt rund 130.000 € Umsatz.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Die Top-Produkte erreichen hohe Umsätze bereits mit niedrigen bis mittleren Rabatten.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Char char="●"/>
            </a:pPr>
            <a:r>
              <a:rPr b="0" i="0" lang="de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Hohe Rabatte sind für Bestseller nicht zwingend erforderlich.</a:t>
            </a:r>
            <a:endParaRPr b="0" i="0" sz="1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7" name="Google Shape;107;p7" title="Bildschirmfoto 2026-07-13 um 15.42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03825"/>
            <a:ext cx="9144003" cy="296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f4fce5aadc_2_21" title="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f4fce5aadc_2_21"/>
          <p:cNvSpPr txBox="1"/>
          <p:nvPr/>
        </p:nvSpPr>
        <p:spPr>
          <a:xfrm>
            <a:off x="2726600" y="201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800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Fazit &amp; Empfehlungen</a:t>
            </a:r>
            <a:endParaRPr b="1" sz="1800">
              <a:solidFill>
                <a:srgbClr val="1155C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4" name="Google Shape;114;g3f4fce5aadc_2_21"/>
          <p:cNvSpPr txBox="1"/>
          <p:nvPr/>
        </p:nvSpPr>
        <p:spPr>
          <a:xfrm>
            <a:off x="89450" y="767575"/>
            <a:ext cx="7502700" cy="16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500">
                <a:solidFill>
                  <a:srgbClr val="1155CC"/>
                </a:solidFill>
              </a:rPr>
              <a:t>Wichtigste Erkenntnisse</a:t>
            </a:r>
            <a:endParaRPr b="1" sz="15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134F5C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omic Sans MS"/>
              <a:buChar char="●"/>
            </a:pPr>
            <a:r>
              <a:rPr b="1" lang="de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Höhere Umsätze und Verkaufszahlen in der Peak Season.</a:t>
            </a:r>
            <a:endParaRPr b="1" sz="1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omic Sans MS"/>
              <a:buChar char="●"/>
            </a:pPr>
            <a:r>
              <a:rPr b="1" lang="de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10–30 % Rabatt erzielen die beste Balance zwischen Umsatz und Verkaufsmenge.</a:t>
            </a:r>
            <a:endParaRPr b="1" sz="1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omic Sans MS"/>
              <a:buChar char="●"/>
            </a:pPr>
            <a:r>
              <a:rPr b="1" lang="de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Sehr hohe Rabatte (90–100 %) sind wirtschaftlich nicht sinnvoll.</a:t>
            </a:r>
            <a:endParaRPr b="1" sz="1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omic Sans MS"/>
              <a:buChar char="●"/>
            </a:pPr>
            <a:r>
              <a:rPr b="1" lang="de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Bestseller erreichen auch mit geringen Rabatten hohe Umsätze.</a:t>
            </a:r>
            <a:endParaRPr b="1" sz="1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g3f4fce5aadc_2_21"/>
          <p:cNvSpPr txBox="1"/>
          <p:nvPr/>
        </p:nvSpPr>
        <p:spPr>
          <a:xfrm>
            <a:off x="89450" y="2478350"/>
            <a:ext cx="82743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Empfehlungen</a:t>
            </a:r>
            <a:endParaRPr b="1" sz="1600">
              <a:solidFill>
                <a:srgbClr val="1155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1155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omic Sans MS"/>
              <a:buChar char="●"/>
            </a:pPr>
            <a:r>
              <a:rPr b="1" lang="de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Rabattaktionen gezielt in der Peak Season einsetzen.</a:t>
            </a:r>
            <a:endParaRPr b="1" sz="1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omic Sans MS"/>
              <a:buChar char="●"/>
            </a:pPr>
            <a:r>
              <a:rPr b="1" lang="de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Rabatte produkt- und saisonabhängig planen.</a:t>
            </a:r>
            <a:endParaRPr b="1" sz="1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omic Sans MS"/>
              <a:buChar char="●"/>
            </a:pPr>
            <a:r>
              <a:rPr b="1" lang="de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Hohe Rabatte nur für ausgewählte Produkte verwenden.</a:t>
            </a:r>
            <a:endParaRPr b="1" sz="1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omic Sans MS"/>
              <a:buChar char="●"/>
            </a:pPr>
            <a:r>
              <a:rPr b="1" lang="de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Produktkosten, Gewinnmargen und Kundendaten zusätzlich erfassen.</a:t>
            </a:r>
            <a:endParaRPr b="1" sz="11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g3f4fce5aadc_2_21"/>
          <p:cNvSpPr txBox="1"/>
          <p:nvPr/>
        </p:nvSpPr>
        <p:spPr>
          <a:xfrm>
            <a:off x="0" y="4002950"/>
            <a:ext cx="88221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b="1" lang="de" sz="1600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Schlussfolgerung</a:t>
            </a:r>
            <a:endParaRPr b="1" sz="1600">
              <a:solidFill>
                <a:srgbClr val="1155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1155CC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1" sz="1600">
              <a:solidFill>
                <a:srgbClr val="1155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1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Rabatte sind sinnvoll – aber nur, wenn sie gezielt, datenbasiert und wirtschaftlich eingesetzt werden.</a:t>
            </a:r>
            <a:endParaRPr b="1" sz="1100">
              <a:solidFill>
                <a:srgbClr val="1155C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f4fce5aadc_2_7" title="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f4fce5aadc_2_7" title="folie_8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